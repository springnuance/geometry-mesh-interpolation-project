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C384-E5EE-465C-BAEA-9523A7FC09B7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062C-0605-4B59-8B1C-7E605B719A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169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C384-E5EE-465C-BAEA-9523A7FC09B7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062C-0605-4B59-8B1C-7E605B719A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235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C384-E5EE-465C-BAEA-9523A7FC09B7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062C-0605-4B59-8B1C-7E605B719A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5852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C384-E5EE-465C-BAEA-9523A7FC09B7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062C-0605-4B59-8B1C-7E605B719A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654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C384-E5EE-465C-BAEA-9523A7FC09B7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062C-0605-4B59-8B1C-7E605B719A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5868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C384-E5EE-465C-BAEA-9523A7FC09B7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062C-0605-4B59-8B1C-7E605B719A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70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C384-E5EE-465C-BAEA-9523A7FC09B7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062C-0605-4B59-8B1C-7E605B719A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5108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C384-E5EE-465C-BAEA-9523A7FC09B7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062C-0605-4B59-8B1C-7E605B719A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918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C384-E5EE-465C-BAEA-9523A7FC09B7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062C-0605-4B59-8B1C-7E605B719A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405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C384-E5EE-465C-BAEA-9523A7FC09B7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062C-0605-4B59-8B1C-7E605B719A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220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C384-E5EE-465C-BAEA-9523A7FC09B7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062C-0605-4B59-8B1C-7E605B719A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7792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4C384-E5EE-465C-BAEA-9523A7FC09B7}" type="datetimeFigureOut">
              <a:rPr lang="de-DE" smtClean="0"/>
              <a:t>17.12.2025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2062C-0605-4B59-8B1C-7E605B719A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0868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04" y="235951"/>
            <a:ext cx="4132981" cy="2031266"/>
          </a:xfrm>
          <a:prstGeom prst="rect">
            <a:avLst/>
          </a:prstGeom>
        </p:spPr>
      </p:pic>
      <p:sp>
        <p:nvSpPr>
          <p:cNvPr id="3" name="Rechteck 2"/>
          <p:cNvSpPr/>
          <p:nvPr/>
        </p:nvSpPr>
        <p:spPr>
          <a:xfrm>
            <a:off x="1177297" y="2403202"/>
            <a:ext cx="22343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FEM, </a:t>
            </a:r>
            <a:r>
              <a:rPr lang="de-DE" sz="1200" dirty="0" err="1" smtClean="0"/>
              <a:t>forming</a:t>
            </a:r>
            <a:r>
              <a:rPr lang="de-DE" sz="1200" dirty="0" smtClean="0"/>
              <a:t> </a:t>
            </a:r>
            <a:r>
              <a:rPr lang="de-DE" sz="1200" dirty="0" err="1" smtClean="0"/>
              <a:t>simulation</a:t>
            </a:r>
            <a:r>
              <a:rPr lang="de-DE" sz="1200" dirty="0" smtClean="0"/>
              <a:t>, explicit</a:t>
            </a:r>
            <a:endParaRPr lang="de-DE" sz="1200" dirty="0"/>
          </a:p>
        </p:txBody>
      </p:sp>
      <p:sp>
        <p:nvSpPr>
          <p:cNvPr id="4" name="Pfeil nach unten 3"/>
          <p:cNvSpPr/>
          <p:nvPr/>
        </p:nvSpPr>
        <p:spPr>
          <a:xfrm>
            <a:off x="2052178" y="2755722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201" y="1220589"/>
            <a:ext cx="1659860" cy="447115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45" y="3777064"/>
            <a:ext cx="4132981" cy="2318502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585945" y="3777064"/>
            <a:ext cx="24338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FEM, springback </a:t>
            </a:r>
            <a:r>
              <a:rPr lang="de-DE" sz="1200" dirty="0" err="1" smtClean="0"/>
              <a:t>simulation</a:t>
            </a:r>
            <a:r>
              <a:rPr lang="de-DE" sz="1200" dirty="0" smtClean="0"/>
              <a:t>, </a:t>
            </a:r>
            <a:r>
              <a:rPr lang="de-DE" sz="1200" dirty="0" err="1" smtClean="0"/>
              <a:t>implicit</a:t>
            </a:r>
            <a:endParaRPr lang="de-DE" sz="1200" dirty="0"/>
          </a:p>
        </p:txBody>
      </p:sp>
      <p:cxnSp>
        <p:nvCxnSpPr>
          <p:cNvPr id="8" name="Gerader Verbinder 7"/>
          <p:cNvCxnSpPr/>
          <p:nvPr/>
        </p:nvCxnSpPr>
        <p:spPr>
          <a:xfrm flipV="1">
            <a:off x="3490546" y="3429000"/>
            <a:ext cx="339722" cy="4220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3255490" y="3152001"/>
            <a:ext cx="11054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err="1" smtClean="0"/>
              <a:t>One</a:t>
            </a:r>
            <a:r>
              <a:rPr lang="de-DE" sz="1200" dirty="0" smtClean="0"/>
              <a:t> </a:t>
            </a:r>
            <a:r>
              <a:rPr lang="de-DE" sz="1200" dirty="0" err="1" smtClean="0"/>
              <a:t>fixed</a:t>
            </a:r>
            <a:r>
              <a:rPr lang="de-DE" sz="1200" dirty="0" smtClean="0"/>
              <a:t> </a:t>
            </a:r>
            <a:r>
              <a:rPr lang="de-DE" sz="1200" dirty="0" err="1" smtClean="0"/>
              <a:t>note</a:t>
            </a:r>
            <a:endParaRPr lang="de-DE" sz="1200" dirty="0"/>
          </a:p>
        </p:txBody>
      </p:sp>
      <p:sp>
        <p:nvSpPr>
          <p:cNvPr id="11" name="Rechteck 10"/>
          <p:cNvSpPr/>
          <p:nvPr/>
        </p:nvSpPr>
        <p:spPr>
          <a:xfrm>
            <a:off x="5120226" y="5755756"/>
            <a:ext cx="57463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LS-</a:t>
            </a:r>
            <a:r>
              <a:rPr lang="de-DE" sz="1200" dirty="0" err="1" smtClean="0"/>
              <a:t>Dyna</a:t>
            </a:r>
            <a:r>
              <a:rPr lang="de-DE" sz="1200" dirty="0"/>
              <a:t> </a:t>
            </a:r>
            <a:r>
              <a:rPr lang="de-DE" sz="1200" dirty="0" err="1" smtClean="0"/>
              <a:t>output</a:t>
            </a:r>
            <a:r>
              <a:rPr lang="de-DE" sz="1200" dirty="0" smtClean="0"/>
              <a:t> </a:t>
            </a:r>
            <a:r>
              <a:rPr lang="de-DE" sz="1200" dirty="0" err="1" smtClean="0"/>
              <a:t>from</a:t>
            </a:r>
            <a:r>
              <a:rPr lang="de-DE" sz="1200" dirty="0" smtClean="0"/>
              <a:t> explicit </a:t>
            </a:r>
            <a:r>
              <a:rPr lang="de-DE" sz="1200" dirty="0" err="1" smtClean="0"/>
              <a:t>forming</a:t>
            </a:r>
            <a:r>
              <a:rPr lang="de-DE" sz="1200" dirty="0" smtClean="0"/>
              <a:t> </a:t>
            </a:r>
            <a:r>
              <a:rPr lang="de-DE" sz="1200" dirty="0" err="1" smtClean="0"/>
              <a:t>simulation</a:t>
            </a:r>
            <a:r>
              <a:rPr lang="de-DE" sz="1200" dirty="0" smtClean="0"/>
              <a:t> </a:t>
            </a:r>
            <a:r>
              <a:rPr lang="de-DE" sz="1200" dirty="0" err="1" smtClean="0"/>
              <a:t>is</a:t>
            </a:r>
            <a:r>
              <a:rPr lang="de-DE" sz="1200" dirty="0" smtClean="0"/>
              <a:t> </a:t>
            </a:r>
            <a:r>
              <a:rPr lang="de-DE" sz="1200" dirty="0" err="1" smtClean="0"/>
              <a:t>called</a:t>
            </a:r>
            <a:r>
              <a:rPr lang="de-DE" sz="1200" dirty="0" smtClean="0"/>
              <a:t> „</a:t>
            </a:r>
            <a:r>
              <a:rPr lang="de-DE" sz="1200" dirty="0" err="1" smtClean="0"/>
              <a:t>Dynain</a:t>
            </a:r>
            <a:r>
              <a:rPr lang="de-DE" sz="1200" dirty="0" smtClean="0"/>
              <a:t> ASCII“</a:t>
            </a:r>
          </a:p>
          <a:p>
            <a:r>
              <a:rPr lang="de-DE" sz="1200" dirty="0" err="1" smtClean="0"/>
              <a:t>It</a:t>
            </a:r>
            <a:r>
              <a:rPr lang="de-DE" sz="1200" dirty="0" smtClean="0"/>
              <a:t> </a:t>
            </a:r>
            <a:r>
              <a:rPr lang="de-DE" sz="1200" dirty="0" err="1" smtClean="0"/>
              <a:t>automatically</a:t>
            </a:r>
            <a:r>
              <a:rPr lang="de-DE" sz="1200" dirty="0" smtClean="0"/>
              <a:t> </a:t>
            </a:r>
            <a:r>
              <a:rPr lang="de-DE" sz="1200" dirty="0" err="1" smtClean="0"/>
              <a:t>contains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</a:t>
            </a:r>
            <a:r>
              <a:rPr lang="de-DE" sz="1200" dirty="0" err="1" smtClean="0"/>
              <a:t>correct</a:t>
            </a:r>
            <a:r>
              <a:rPr lang="de-DE" sz="1200" dirty="0" smtClean="0"/>
              <a:t> </a:t>
            </a:r>
            <a:r>
              <a:rPr lang="de-DE" sz="1200" dirty="0" err="1" smtClean="0"/>
              <a:t>format</a:t>
            </a:r>
            <a:r>
              <a:rPr lang="de-DE" sz="1200" dirty="0" smtClean="0"/>
              <a:t> </a:t>
            </a:r>
            <a:r>
              <a:rPr lang="de-DE" sz="1200" dirty="0" err="1" smtClean="0"/>
              <a:t>for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LS-</a:t>
            </a:r>
            <a:r>
              <a:rPr lang="de-DE" sz="1200" dirty="0" err="1" smtClean="0"/>
              <a:t>Dyna</a:t>
            </a:r>
            <a:r>
              <a:rPr lang="de-DE" sz="1200" dirty="0" smtClean="0"/>
              <a:t> </a:t>
            </a:r>
            <a:r>
              <a:rPr lang="de-DE" sz="1200" dirty="0" err="1" smtClean="0"/>
              <a:t>implicit</a:t>
            </a:r>
            <a:r>
              <a:rPr lang="de-DE" sz="1200" dirty="0" smtClean="0"/>
              <a:t> springback </a:t>
            </a:r>
            <a:r>
              <a:rPr lang="de-DE" sz="1200" dirty="0" err="1" smtClean="0"/>
              <a:t>simulation</a:t>
            </a:r>
            <a:endParaRPr lang="de-DE" sz="1200" dirty="0"/>
          </a:p>
        </p:txBody>
      </p:sp>
      <p:sp>
        <p:nvSpPr>
          <p:cNvPr id="12" name="Rechteck 11"/>
          <p:cNvSpPr/>
          <p:nvPr/>
        </p:nvSpPr>
        <p:spPr>
          <a:xfrm>
            <a:off x="5180683" y="121171"/>
            <a:ext cx="17230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b="1" dirty="0" smtClean="0"/>
              <a:t>Initial Setup</a:t>
            </a:r>
            <a:endParaRPr lang="de-DE" sz="2400" b="1" dirty="0"/>
          </a:p>
        </p:txBody>
      </p:sp>
    </p:spTree>
    <p:extLst>
      <p:ext uri="{BB962C8B-B14F-4D97-AF65-F5344CB8AC3E}">
        <p14:creationId xmlns:p14="http://schemas.microsoft.com/office/powerpoint/2010/main" val="2685099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902" y="1398915"/>
            <a:ext cx="5044895" cy="2452116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04" y="235951"/>
            <a:ext cx="4132981" cy="2031266"/>
          </a:xfrm>
          <a:prstGeom prst="rect">
            <a:avLst/>
          </a:prstGeom>
        </p:spPr>
      </p:pic>
      <p:sp>
        <p:nvSpPr>
          <p:cNvPr id="3" name="Rechteck 2"/>
          <p:cNvSpPr/>
          <p:nvPr/>
        </p:nvSpPr>
        <p:spPr>
          <a:xfrm>
            <a:off x="1177297" y="2403202"/>
            <a:ext cx="22343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FEM, </a:t>
            </a:r>
            <a:r>
              <a:rPr lang="de-DE" sz="1200" dirty="0" err="1" smtClean="0"/>
              <a:t>forming</a:t>
            </a:r>
            <a:r>
              <a:rPr lang="de-DE" sz="1200" dirty="0" smtClean="0"/>
              <a:t> </a:t>
            </a:r>
            <a:r>
              <a:rPr lang="de-DE" sz="1200" dirty="0" err="1" smtClean="0"/>
              <a:t>simulation</a:t>
            </a:r>
            <a:r>
              <a:rPr lang="de-DE" sz="1200" dirty="0" smtClean="0"/>
              <a:t>, explicit</a:t>
            </a:r>
            <a:endParaRPr lang="de-DE" sz="1200" dirty="0"/>
          </a:p>
        </p:txBody>
      </p:sp>
      <p:sp>
        <p:nvSpPr>
          <p:cNvPr id="4" name="Pfeil nach unten 3"/>
          <p:cNvSpPr/>
          <p:nvPr/>
        </p:nvSpPr>
        <p:spPr>
          <a:xfrm rot="17791771">
            <a:off x="4468316" y="1079907"/>
            <a:ext cx="484632" cy="17260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45" y="3777064"/>
            <a:ext cx="4132981" cy="2318502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585945" y="3777064"/>
            <a:ext cx="24338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FEM, springback </a:t>
            </a:r>
            <a:r>
              <a:rPr lang="de-DE" sz="1200" dirty="0" err="1" smtClean="0"/>
              <a:t>simulation</a:t>
            </a:r>
            <a:r>
              <a:rPr lang="de-DE" sz="1200" dirty="0" smtClean="0"/>
              <a:t>, </a:t>
            </a:r>
            <a:r>
              <a:rPr lang="de-DE" sz="1200" dirty="0" err="1" smtClean="0"/>
              <a:t>implicit</a:t>
            </a:r>
            <a:endParaRPr lang="de-DE" sz="1200" dirty="0"/>
          </a:p>
        </p:txBody>
      </p:sp>
      <p:cxnSp>
        <p:nvCxnSpPr>
          <p:cNvPr id="8" name="Gerader Verbinder 7"/>
          <p:cNvCxnSpPr/>
          <p:nvPr/>
        </p:nvCxnSpPr>
        <p:spPr>
          <a:xfrm flipV="1">
            <a:off x="3490546" y="3429000"/>
            <a:ext cx="339722" cy="4220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3255490" y="3152001"/>
            <a:ext cx="11054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err="1" smtClean="0"/>
              <a:t>One</a:t>
            </a:r>
            <a:r>
              <a:rPr lang="de-DE" sz="1200" dirty="0" smtClean="0"/>
              <a:t> </a:t>
            </a:r>
            <a:r>
              <a:rPr lang="de-DE" sz="1200" dirty="0" err="1" smtClean="0"/>
              <a:t>fixed</a:t>
            </a:r>
            <a:r>
              <a:rPr lang="de-DE" sz="1200" dirty="0" smtClean="0"/>
              <a:t> </a:t>
            </a:r>
            <a:r>
              <a:rPr lang="de-DE" sz="1200" dirty="0" err="1" smtClean="0"/>
              <a:t>note</a:t>
            </a:r>
            <a:endParaRPr lang="de-DE" sz="1200" dirty="0"/>
          </a:p>
        </p:txBody>
      </p:sp>
      <p:sp>
        <p:nvSpPr>
          <p:cNvPr id="12" name="Rechteck 11"/>
          <p:cNvSpPr/>
          <p:nvPr/>
        </p:nvSpPr>
        <p:spPr>
          <a:xfrm>
            <a:off x="4779562" y="1603365"/>
            <a:ext cx="17343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err="1" smtClean="0"/>
              <a:t>Assign</a:t>
            </a:r>
            <a:r>
              <a:rPr lang="de-DE" sz="1200" dirty="0" smtClean="0"/>
              <a:t> FEM </a:t>
            </a:r>
            <a:r>
              <a:rPr lang="de-DE" sz="1200" dirty="0" err="1" smtClean="0"/>
              <a:t>results</a:t>
            </a:r>
            <a:r>
              <a:rPr lang="de-DE" sz="1200" dirty="0" smtClean="0"/>
              <a:t> </a:t>
            </a:r>
            <a:r>
              <a:rPr lang="de-DE" sz="1200" dirty="0" err="1" smtClean="0"/>
              <a:t>to</a:t>
            </a:r>
            <a:r>
              <a:rPr lang="de-DE" sz="1200" dirty="0"/>
              <a:t> </a:t>
            </a:r>
            <a:r>
              <a:rPr lang="de-DE" sz="1200" dirty="0" smtClean="0"/>
              <a:t>.</a:t>
            </a:r>
            <a:r>
              <a:rPr lang="de-DE" sz="1200" dirty="0" err="1" smtClean="0"/>
              <a:t>stl</a:t>
            </a:r>
            <a:endParaRPr lang="de-DE" sz="1200" dirty="0"/>
          </a:p>
        </p:txBody>
      </p:sp>
      <p:sp>
        <p:nvSpPr>
          <p:cNvPr id="13" name="Pfeil nach unten 12"/>
          <p:cNvSpPr/>
          <p:nvPr/>
        </p:nvSpPr>
        <p:spPr>
          <a:xfrm rot="3162339">
            <a:off x="4907511" y="3082215"/>
            <a:ext cx="484632" cy="17260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5205117" y="4152871"/>
            <a:ext cx="44470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 smtClean="0"/>
              <a:t>Run springback </a:t>
            </a:r>
            <a:r>
              <a:rPr lang="de-DE" sz="1200" dirty="0" err="1" smtClean="0"/>
              <a:t>simulation</a:t>
            </a:r>
            <a:r>
              <a:rPr lang="de-DE" sz="1200" dirty="0" smtClean="0"/>
              <a:t> </a:t>
            </a:r>
            <a:r>
              <a:rPr lang="de-DE" sz="1200" dirty="0" err="1" smtClean="0"/>
              <a:t>with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.</a:t>
            </a:r>
            <a:r>
              <a:rPr lang="de-DE" sz="1200" dirty="0" err="1" smtClean="0"/>
              <a:t>stl</a:t>
            </a:r>
            <a:r>
              <a:rPr lang="de-DE" sz="1200" dirty="0" smtClean="0"/>
              <a:t> </a:t>
            </a:r>
            <a:r>
              <a:rPr lang="de-DE" sz="1200" dirty="0" err="1" smtClean="0"/>
              <a:t>part</a:t>
            </a:r>
            <a:r>
              <a:rPr lang="de-DE" sz="1200" dirty="0" smtClean="0"/>
              <a:t>:</a:t>
            </a:r>
          </a:p>
          <a:p>
            <a:endParaRPr lang="de-DE" sz="1200" dirty="0"/>
          </a:p>
          <a:p>
            <a:r>
              <a:rPr lang="de-DE" sz="1200" dirty="0" err="1" smtClean="0"/>
              <a:t>It</a:t>
            </a:r>
            <a:r>
              <a:rPr lang="de-DE" sz="1200" dirty="0" smtClean="0"/>
              <a:t> </a:t>
            </a:r>
            <a:r>
              <a:rPr lang="de-DE" sz="1200" dirty="0" err="1" smtClean="0"/>
              <a:t>has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.</a:t>
            </a:r>
            <a:r>
              <a:rPr lang="de-DE" sz="1200" dirty="0" err="1" smtClean="0"/>
              <a:t>stl</a:t>
            </a:r>
            <a:r>
              <a:rPr lang="de-DE" sz="1200" dirty="0" smtClean="0"/>
              <a:t> „</a:t>
            </a:r>
            <a:r>
              <a:rPr lang="de-DE" sz="1200" dirty="0" err="1" smtClean="0"/>
              <a:t>perfect</a:t>
            </a:r>
            <a:r>
              <a:rPr lang="de-DE" sz="1200" dirty="0" smtClean="0"/>
              <a:t> </a:t>
            </a:r>
            <a:r>
              <a:rPr lang="de-DE" sz="1200" dirty="0" err="1" smtClean="0"/>
              <a:t>shape</a:t>
            </a:r>
            <a:r>
              <a:rPr lang="de-DE" sz="1200" dirty="0" smtClean="0"/>
              <a:t>“ but </a:t>
            </a:r>
            <a:r>
              <a:rPr lang="de-DE" sz="1200" dirty="0" err="1" smtClean="0"/>
              <a:t>the</a:t>
            </a:r>
            <a:r>
              <a:rPr lang="de-DE" sz="1200" dirty="0" smtClean="0"/>
              <a:t> </a:t>
            </a:r>
            <a:r>
              <a:rPr lang="de-DE" sz="1200" dirty="0" err="1" smtClean="0"/>
              <a:t>results</a:t>
            </a:r>
            <a:r>
              <a:rPr lang="de-DE" sz="1200" dirty="0" smtClean="0"/>
              <a:t> </a:t>
            </a:r>
            <a:r>
              <a:rPr lang="de-DE" sz="1200" dirty="0" err="1" smtClean="0"/>
              <a:t>of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</a:t>
            </a:r>
            <a:r>
              <a:rPr lang="de-DE" sz="1200" dirty="0" err="1" smtClean="0"/>
              <a:t>actual</a:t>
            </a:r>
            <a:r>
              <a:rPr lang="de-DE" sz="1200" dirty="0" smtClean="0"/>
              <a:t> FEM </a:t>
            </a:r>
            <a:r>
              <a:rPr lang="de-DE" sz="1200" dirty="0" err="1" smtClean="0"/>
              <a:t>simulation</a:t>
            </a:r>
            <a:r>
              <a:rPr lang="de-DE" sz="1200" dirty="0" smtClean="0"/>
              <a:t>. </a:t>
            </a:r>
            <a:r>
              <a:rPr lang="de-DE" sz="1200" dirty="0" err="1" smtClean="0"/>
              <a:t>It</a:t>
            </a:r>
            <a:r>
              <a:rPr lang="de-DE" sz="1200" dirty="0" smtClean="0"/>
              <a:t> </a:t>
            </a:r>
            <a:r>
              <a:rPr lang="de-DE" sz="1200" dirty="0" err="1" smtClean="0"/>
              <a:t>can</a:t>
            </a:r>
            <a:r>
              <a:rPr lang="de-DE" sz="1200" dirty="0" smtClean="0"/>
              <a:t>, but not </a:t>
            </a:r>
            <a:r>
              <a:rPr lang="de-DE" sz="1200" dirty="0" err="1" smtClean="0"/>
              <a:t>necessarily</a:t>
            </a:r>
            <a:r>
              <a:rPr lang="de-DE" sz="1200" dirty="0" smtClean="0"/>
              <a:t> must </a:t>
            </a:r>
            <a:r>
              <a:rPr lang="de-DE" sz="1200" dirty="0" err="1" smtClean="0"/>
              <a:t>have</a:t>
            </a:r>
            <a:r>
              <a:rPr lang="de-DE" sz="1200" dirty="0" smtClean="0"/>
              <a:t>, </a:t>
            </a:r>
            <a:r>
              <a:rPr lang="de-DE" sz="1200" dirty="0" err="1" smtClean="0"/>
              <a:t>interpolated</a:t>
            </a:r>
            <a:r>
              <a:rPr lang="de-DE" sz="1200" dirty="0" smtClean="0"/>
              <a:t> </a:t>
            </a:r>
            <a:r>
              <a:rPr lang="de-DE" sz="1200" dirty="0" err="1" smtClean="0"/>
              <a:t>results</a:t>
            </a:r>
            <a:endParaRPr lang="de-DE" sz="1200" dirty="0"/>
          </a:p>
        </p:txBody>
      </p:sp>
      <p:sp>
        <p:nvSpPr>
          <p:cNvPr id="15" name="Rechteck 14"/>
          <p:cNvSpPr/>
          <p:nvPr/>
        </p:nvSpPr>
        <p:spPr>
          <a:xfrm>
            <a:off x="5180683" y="121171"/>
            <a:ext cx="15756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b="1" dirty="0" smtClean="0"/>
              <a:t>New Setup</a:t>
            </a:r>
            <a:endParaRPr lang="de-DE" sz="2400" b="1" dirty="0"/>
          </a:p>
        </p:txBody>
      </p:sp>
    </p:spTree>
    <p:extLst>
      <p:ext uri="{BB962C8B-B14F-4D97-AF65-F5344CB8AC3E}">
        <p14:creationId xmlns:p14="http://schemas.microsoft.com/office/powerpoint/2010/main" val="3758247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3241431" y="821848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dirty="0" err="1" smtClean="0"/>
              <a:t>former</a:t>
            </a:r>
            <a:r>
              <a:rPr lang="de-DE" dirty="0" smtClean="0"/>
              <a:t> </a:t>
            </a:r>
            <a:r>
              <a:rPr lang="de-DE" dirty="0" err="1" smtClean="0"/>
              <a:t>code</a:t>
            </a:r>
            <a:r>
              <a:rPr lang="de-DE" dirty="0" smtClean="0"/>
              <a:t> </a:t>
            </a:r>
            <a:r>
              <a:rPr lang="de-DE" dirty="0" err="1" smtClean="0"/>
              <a:t>accepted</a:t>
            </a:r>
            <a:r>
              <a:rPr lang="de-DE" dirty="0" smtClean="0"/>
              <a:t> </a:t>
            </a:r>
            <a:r>
              <a:rPr lang="de-DE" dirty="0" err="1" smtClean="0"/>
              <a:t>these</a:t>
            </a:r>
            <a:r>
              <a:rPr lang="de-DE" dirty="0" smtClean="0"/>
              <a:t> </a:t>
            </a:r>
            <a:r>
              <a:rPr lang="de-DE" dirty="0" err="1" smtClean="0"/>
              <a:t>three</a:t>
            </a:r>
            <a:r>
              <a:rPr lang="de-DE" dirty="0" smtClean="0"/>
              <a:t> </a:t>
            </a:r>
            <a:r>
              <a:rPr lang="de-DE" dirty="0" err="1" smtClean="0"/>
              <a:t>inputs</a:t>
            </a:r>
            <a:r>
              <a:rPr lang="de-DE" dirty="0" smtClean="0"/>
              <a:t>:</a:t>
            </a:r>
          </a:p>
          <a:p>
            <a:r>
              <a:rPr lang="de-DE" dirty="0" smtClean="0"/>
              <a:t>- </a:t>
            </a:r>
            <a:r>
              <a:rPr lang="de-DE" dirty="0" err="1" smtClean="0"/>
              <a:t>Node</a:t>
            </a:r>
            <a:r>
              <a:rPr lang="de-DE" dirty="0" smtClean="0"/>
              <a:t> </a:t>
            </a:r>
            <a:r>
              <a:rPr lang="de-DE" dirty="0" err="1" smtClean="0"/>
              <a:t>Coordiantes</a:t>
            </a:r>
            <a:endParaRPr lang="de-DE" dirty="0" smtClean="0"/>
          </a:p>
          <a:p>
            <a:r>
              <a:rPr lang="de-DE" dirty="0" smtClean="0"/>
              <a:t>- Element </a:t>
            </a:r>
            <a:r>
              <a:rPr lang="de-DE" dirty="0" err="1" smtClean="0"/>
              <a:t>connectivity</a:t>
            </a:r>
            <a:endParaRPr lang="de-DE" dirty="0" smtClean="0"/>
          </a:p>
          <a:p>
            <a:r>
              <a:rPr lang="de-DE" dirty="0" smtClean="0"/>
              <a:t>- </a:t>
            </a:r>
            <a:r>
              <a:rPr lang="de-DE" dirty="0" err="1" smtClean="0"/>
              <a:t>Nodal</a:t>
            </a:r>
            <a:r>
              <a:rPr lang="de-DE" dirty="0" smtClean="0"/>
              <a:t> </a:t>
            </a:r>
            <a:r>
              <a:rPr lang="de-DE" dirty="0" err="1" smtClean="0"/>
              <a:t>results</a:t>
            </a:r>
            <a:r>
              <a:rPr lang="de-DE" dirty="0" smtClean="0"/>
              <a:t> (e.g. </a:t>
            </a:r>
            <a:r>
              <a:rPr lang="de-DE" dirty="0" err="1" smtClean="0"/>
              <a:t>vMises</a:t>
            </a:r>
            <a:r>
              <a:rPr lang="de-DE" dirty="0" smtClean="0"/>
              <a:t> Stress)</a:t>
            </a:r>
          </a:p>
          <a:p>
            <a:endParaRPr lang="de-DE" dirty="0" smtClean="0"/>
          </a:p>
          <a:p>
            <a:r>
              <a:rPr lang="de-DE" dirty="0" smtClean="0"/>
              <a:t>but </a:t>
            </a:r>
            <a:r>
              <a:rPr lang="de-DE" dirty="0" err="1" smtClean="0"/>
              <a:t>the</a:t>
            </a:r>
            <a:r>
              <a:rPr lang="de-DE" dirty="0" smtClean="0"/>
              <a:t> springback </a:t>
            </a:r>
            <a:r>
              <a:rPr lang="de-DE" dirty="0" err="1" smtClean="0"/>
              <a:t>simulation</a:t>
            </a:r>
            <a:r>
              <a:rPr lang="de-DE" dirty="0" smtClean="0"/>
              <a:t> </a:t>
            </a:r>
            <a:r>
              <a:rPr lang="de-DE" dirty="0" err="1" smtClean="0"/>
              <a:t>needs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following</a:t>
            </a:r>
            <a:r>
              <a:rPr lang="de-DE" dirty="0" smtClean="0"/>
              <a:t> </a:t>
            </a:r>
            <a:r>
              <a:rPr lang="de-DE" dirty="0" err="1" smtClean="0"/>
              <a:t>three</a:t>
            </a:r>
            <a:r>
              <a:rPr lang="de-DE" dirty="0" smtClean="0"/>
              <a:t> </a:t>
            </a:r>
            <a:r>
              <a:rPr lang="de-DE" dirty="0" err="1" smtClean="0"/>
              <a:t>inputs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correct</a:t>
            </a:r>
            <a:r>
              <a:rPr lang="de-DE" dirty="0" smtClean="0"/>
              <a:t> </a:t>
            </a:r>
            <a:r>
              <a:rPr lang="de-DE" dirty="0" err="1" smtClean="0"/>
              <a:t>format</a:t>
            </a:r>
            <a:r>
              <a:rPr lang="de-DE" dirty="0" smtClean="0"/>
              <a:t> </a:t>
            </a:r>
            <a:r>
              <a:rPr lang="de-DE" dirty="0" err="1" smtClean="0"/>
              <a:t>provided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export</a:t>
            </a:r>
            <a:r>
              <a:rPr lang="de-DE" dirty="0" smtClean="0"/>
              <a:t>:</a:t>
            </a:r>
          </a:p>
          <a:p>
            <a:r>
              <a:rPr lang="de-DE" dirty="0" smtClean="0"/>
              <a:t>- Element </a:t>
            </a:r>
            <a:r>
              <a:rPr lang="de-DE" dirty="0" err="1" smtClean="0"/>
              <a:t>shell</a:t>
            </a:r>
            <a:r>
              <a:rPr lang="de-DE" dirty="0" smtClean="0"/>
              <a:t> </a:t>
            </a:r>
            <a:r>
              <a:rPr lang="de-DE" dirty="0" err="1" smtClean="0"/>
              <a:t>thickness</a:t>
            </a:r>
            <a:r>
              <a:rPr lang="de-DE" dirty="0" smtClean="0"/>
              <a:t> (</a:t>
            </a:r>
            <a:r>
              <a:rPr lang="de-DE" dirty="0" err="1" smtClean="0"/>
              <a:t>element</a:t>
            </a:r>
            <a:r>
              <a:rPr lang="de-DE" dirty="0" smtClean="0"/>
              <a:t> </a:t>
            </a:r>
            <a:r>
              <a:rPr lang="de-DE" dirty="0" err="1" smtClean="0"/>
              <a:t>connectivity</a:t>
            </a:r>
            <a:r>
              <a:rPr lang="de-DE" dirty="0" smtClean="0"/>
              <a:t> + </a:t>
            </a:r>
            <a:r>
              <a:rPr lang="de-DE" dirty="0" err="1" smtClean="0"/>
              <a:t>shell</a:t>
            </a:r>
            <a:r>
              <a:rPr lang="de-DE" dirty="0" smtClean="0"/>
              <a:t> </a:t>
            </a:r>
            <a:r>
              <a:rPr lang="de-DE" dirty="0" err="1" smtClean="0"/>
              <a:t>thickness</a:t>
            </a:r>
            <a:r>
              <a:rPr lang="de-DE" dirty="0" smtClean="0"/>
              <a:t> in </a:t>
            </a:r>
            <a:r>
              <a:rPr lang="de-DE" dirty="0" err="1" smtClean="0"/>
              <a:t>two</a:t>
            </a:r>
            <a:r>
              <a:rPr lang="de-DE" dirty="0" smtClean="0"/>
              <a:t> </a:t>
            </a:r>
            <a:r>
              <a:rPr lang="de-DE" dirty="0" err="1" smtClean="0"/>
              <a:t>lines</a:t>
            </a:r>
            <a:r>
              <a:rPr lang="de-DE" dirty="0" smtClean="0"/>
              <a:t>)</a:t>
            </a:r>
          </a:p>
          <a:p>
            <a:r>
              <a:rPr lang="de-DE" dirty="0" smtClean="0"/>
              <a:t>- </a:t>
            </a:r>
            <a:r>
              <a:rPr lang="de-DE" dirty="0" err="1" smtClean="0"/>
              <a:t>Node</a:t>
            </a:r>
            <a:r>
              <a:rPr lang="de-DE" dirty="0" smtClean="0"/>
              <a:t> </a:t>
            </a:r>
            <a:r>
              <a:rPr lang="de-DE" dirty="0" err="1" smtClean="0"/>
              <a:t>Coordinates</a:t>
            </a:r>
            <a:endParaRPr lang="de-DE" dirty="0" smtClean="0"/>
          </a:p>
          <a:p>
            <a:r>
              <a:rPr lang="de-DE" dirty="0" smtClean="0"/>
              <a:t>- Element </a:t>
            </a:r>
            <a:r>
              <a:rPr lang="de-DE" dirty="0" err="1" smtClean="0"/>
              <a:t>results</a:t>
            </a:r>
            <a:r>
              <a:rPr lang="de-DE" dirty="0" smtClean="0"/>
              <a:t> (initial stress </a:t>
            </a:r>
            <a:r>
              <a:rPr lang="de-DE" dirty="0" err="1" smtClean="0"/>
              <a:t>shell</a:t>
            </a:r>
            <a:r>
              <a:rPr lang="de-DE" dirty="0" smtClean="0"/>
              <a:t>, initial </a:t>
            </a:r>
            <a:r>
              <a:rPr lang="de-DE" dirty="0" err="1" smtClean="0"/>
              <a:t>strain</a:t>
            </a:r>
            <a:r>
              <a:rPr lang="de-DE" dirty="0" smtClean="0"/>
              <a:t> </a:t>
            </a:r>
            <a:r>
              <a:rPr lang="de-DE" dirty="0" err="1" smtClean="0"/>
              <a:t>shell</a:t>
            </a:r>
            <a:r>
              <a:rPr lang="de-DE" dirty="0" smtClean="0"/>
              <a:t>)</a:t>
            </a:r>
          </a:p>
          <a:p>
            <a:endParaRPr lang="de-DE" dirty="0" smtClean="0"/>
          </a:p>
          <a:p>
            <a:r>
              <a:rPr lang="de-DE" dirty="0" smtClean="0">
                <a:sym typeface="Wingdings" panose="05000000000000000000" pitchFamily="2" charset="2"/>
              </a:rPr>
              <a:t> </a:t>
            </a:r>
            <a:r>
              <a:rPr lang="de-DE" dirty="0" err="1" smtClean="0">
                <a:sym typeface="Wingdings" panose="05000000000000000000" pitchFamily="2" charset="2"/>
              </a:rPr>
              <a:t>Modification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of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the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code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044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4311505" y="615434"/>
            <a:ext cx="35689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Explanation </a:t>
            </a:r>
            <a:r>
              <a:rPr lang="de-DE" sz="1200" dirty="0" err="1" smtClean="0"/>
              <a:t>of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</a:t>
            </a:r>
            <a:r>
              <a:rPr lang="de-DE" sz="1200" dirty="0" err="1" smtClean="0"/>
              <a:t>input</a:t>
            </a:r>
            <a:r>
              <a:rPr lang="de-DE" sz="1200" dirty="0" smtClean="0"/>
              <a:t> </a:t>
            </a:r>
            <a:r>
              <a:rPr lang="de-DE" sz="1200" dirty="0" err="1" smtClean="0"/>
              <a:t>file</a:t>
            </a:r>
            <a:r>
              <a:rPr lang="de-DE" sz="1200" dirty="0" smtClean="0"/>
              <a:t> </a:t>
            </a:r>
            <a:r>
              <a:rPr lang="de-DE" sz="1200" dirty="0" err="1" smtClean="0"/>
              <a:t>for</a:t>
            </a:r>
            <a:r>
              <a:rPr lang="de-DE" sz="1200" dirty="0" smtClean="0"/>
              <a:t> springback </a:t>
            </a:r>
            <a:r>
              <a:rPr lang="de-DE" sz="1200" dirty="0" err="1" smtClean="0"/>
              <a:t>simulation</a:t>
            </a:r>
            <a:r>
              <a:rPr lang="de-DE" sz="1200" dirty="0" smtClean="0"/>
              <a:t>:</a:t>
            </a:r>
            <a:endParaRPr lang="de-DE" sz="120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945" y="3124158"/>
            <a:ext cx="3296110" cy="609685"/>
          </a:xfrm>
          <a:prstGeom prst="rect">
            <a:avLst/>
          </a:prstGeom>
        </p:spPr>
      </p:pic>
      <p:sp>
        <p:nvSpPr>
          <p:cNvPr id="4" name="Rechteck 3"/>
          <p:cNvSpPr/>
          <p:nvPr/>
        </p:nvSpPr>
        <p:spPr>
          <a:xfrm>
            <a:off x="3015762" y="2236148"/>
            <a:ext cx="6415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Header</a:t>
            </a:r>
            <a:endParaRPr lang="de-DE" sz="1200" dirty="0"/>
          </a:p>
        </p:txBody>
      </p:sp>
      <p:sp>
        <p:nvSpPr>
          <p:cNvPr id="12" name="Rechteck 11"/>
          <p:cNvSpPr/>
          <p:nvPr/>
        </p:nvSpPr>
        <p:spPr>
          <a:xfrm>
            <a:off x="2830795" y="4046916"/>
            <a:ext cx="82672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The </a:t>
            </a:r>
            <a:r>
              <a:rPr lang="de-DE" sz="1200" dirty="0" err="1" smtClean="0"/>
              <a:t>file</a:t>
            </a:r>
            <a:r>
              <a:rPr lang="de-DE" sz="1200" dirty="0" smtClean="0"/>
              <a:t> was </a:t>
            </a:r>
            <a:r>
              <a:rPr lang="de-DE" sz="1200" dirty="0" err="1" smtClean="0"/>
              <a:t>exported</a:t>
            </a:r>
            <a:r>
              <a:rPr lang="de-DE" sz="1200" dirty="0" smtClean="0"/>
              <a:t> </a:t>
            </a:r>
            <a:r>
              <a:rPr lang="de-DE" sz="1200" dirty="0" err="1" smtClean="0"/>
              <a:t>from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explicit </a:t>
            </a:r>
            <a:r>
              <a:rPr lang="de-DE" sz="1200" dirty="0" err="1" smtClean="0"/>
              <a:t>model</a:t>
            </a:r>
            <a:r>
              <a:rPr lang="de-DE" sz="1200" dirty="0" smtClean="0"/>
              <a:t> in </a:t>
            </a:r>
            <a:r>
              <a:rPr lang="de-DE" sz="1200" dirty="0" err="1" smtClean="0"/>
              <a:t>state</a:t>
            </a:r>
            <a:r>
              <a:rPr lang="de-DE" sz="1200" dirty="0" smtClean="0"/>
              <a:t> 92 </a:t>
            </a:r>
            <a:r>
              <a:rPr lang="de-DE" sz="1200" dirty="0" err="1" smtClean="0"/>
              <a:t>and</a:t>
            </a:r>
            <a:r>
              <a:rPr lang="de-DE" sz="1200" dirty="0" smtClean="0"/>
              <a:t> time 4.53049, </a:t>
            </a:r>
            <a:r>
              <a:rPr lang="de-DE" sz="1200" dirty="0" err="1" smtClean="0"/>
              <a:t>which</a:t>
            </a:r>
            <a:r>
              <a:rPr lang="de-DE" sz="1200" dirty="0" smtClean="0"/>
              <a:t> </a:t>
            </a:r>
            <a:r>
              <a:rPr lang="de-DE" sz="1200" dirty="0" err="1" smtClean="0"/>
              <a:t>represents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final </a:t>
            </a:r>
            <a:r>
              <a:rPr lang="de-DE" sz="1200" dirty="0" err="1" smtClean="0"/>
              <a:t>state</a:t>
            </a:r>
            <a:r>
              <a:rPr lang="de-DE" sz="1200" dirty="0" smtClean="0"/>
              <a:t> </a:t>
            </a:r>
            <a:r>
              <a:rPr lang="de-DE" sz="1200" dirty="0" err="1" smtClean="0"/>
              <a:t>and</a:t>
            </a:r>
            <a:r>
              <a:rPr lang="de-DE" sz="1200" dirty="0" smtClean="0"/>
              <a:t> time </a:t>
            </a:r>
            <a:r>
              <a:rPr lang="de-DE" sz="1200" dirty="0" err="1" smtClean="0"/>
              <a:t>is</a:t>
            </a:r>
            <a:r>
              <a:rPr lang="de-DE" sz="1200" dirty="0" smtClean="0"/>
              <a:t> </a:t>
            </a:r>
            <a:r>
              <a:rPr lang="de-DE" sz="1200" dirty="0" err="1" smtClean="0"/>
              <a:t>this</a:t>
            </a:r>
            <a:r>
              <a:rPr lang="de-DE" sz="1200" dirty="0" smtClean="0"/>
              <a:t> </a:t>
            </a:r>
            <a:r>
              <a:rPr lang="de-DE" sz="1200" dirty="0" err="1" smtClean="0"/>
              <a:t>model</a:t>
            </a:r>
            <a:endParaRPr lang="de-DE" sz="1200" dirty="0" smtClean="0"/>
          </a:p>
        </p:txBody>
      </p:sp>
    </p:spTree>
    <p:extLst>
      <p:ext uri="{BB962C8B-B14F-4D97-AF65-F5344CB8AC3E}">
        <p14:creationId xmlns:p14="http://schemas.microsoft.com/office/powerpoint/2010/main" val="1650159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4311505" y="615434"/>
            <a:ext cx="35689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Explanation </a:t>
            </a:r>
            <a:r>
              <a:rPr lang="de-DE" sz="1200" dirty="0" err="1" smtClean="0"/>
              <a:t>of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</a:t>
            </a:r>
            <a:r>
              <a:rPr lang="de-DE" sz="1200" dirty="0" err="1" smtClean="0"/>
              <a:t>input</a:t>
            </a:r>
            <a:r>
              <a:rPr lang="de-DE" sz="1200" dirty="0" smtClean="0"/>
              <a:t> </a:t>
            </a:r>
            <a:r>
              <a:rPr lang="de-DE" sz="1200" dirty="0" err="1" smtClean="0"/>
              <a:t>file</a:t>
            </a:r>
            <a:r>
              <a:rPr lang="de-DE" sz="1200" dirty="0" smtClean="0"/>
              <a:t> </a:t>
            </a:r>
            <a:r>
              <a:rPr lang="de-DE" sz="1200" dirty="0" err="1" smtClean="0"/>
              <a:t>for</a:t>
            </a:r>
            <a:r>
              <a:rPr lang="de-DE" sz="1200" dirty="0" smtClean="0"/>
              <a:t> springback </a:t>
            </a:r>
            <a:r>
              <a:rPr lang="de-DE" sz="1200" dirty="0" err="1" smtClean="0"/>
              <a:t>simulation</a:t>
            </a:r>
            <a:r>
              <a:rPr lang="de-DE" sz="1200" dirty="0" smtClean="0"/>
              <a:t>:</a:t>
            </a:r>
            <a:endParaRPr lang="de-DE" sz="1200" dirty="0"/>
          </a:p>
        </p:txBody>
      </p:sp>
      <p:sp>
        <p:nvSpPr>
          <p:cNvPr id="4" name="Rechteck 3"/>
          <p:cNvSpPr/>
          <p:nvPr/>
        </p:nvSpPr>
        <p:spPr>
          <a:xfrm>
            <a:off x="603082" y="1579972"/>
            <a:ext cx="28990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1. Input </a:t>
            </a:r>
            <a:r>
              <a:rPr lang="de-DE" sz="1200" dirty="0" err="1" smtClean="0"/>
              <a:t>keyword</a:t>
            </a:r>
            <a:r>
              <a:rPr lang="de-DE" sz="1200" dirty="0" smtClean="0"/>
              <a:t> „</a:t>
            </a:r>
            <a:r>
              <a:rPr lang="de-DE" sz="1200" dirty="0" err="1" smtClean="0"/>
              <a:t>element</a:t>
            </a:r>
            <a:r>
              <a:rPr lang="de-DE" sz="1200" dirty="0" smtClean="0"/>
              <a:t> </a:t>
            </a:r>
            <a:r>
              <a:rPr lang="de-DE" sz="1200" dirty="0" err="1" smtClean="0"/>
              <a:t>shell</a:t>
            </a:r>
            <a:r>
              <a:rPr lang="de-DE" sz="1200" dirty="0" smtClean="0"/>
              <a:t> </a:t>
            </a:r>
            <a:r>
              <a:rPr lang="de-DE" sz="1200" dirty="0" err="1" smtClean="0"/>
              <a:t>thickness</a:t>
            </a:r>
            <a:r>
              <a:rPr lang="de-DE" sz="1200" dirty="0" smtClean="0"/>
              <a:t>“:</a:t>
            </a:r>
          </a:p>
          <a:p>
            <a:endParaRPr lang="de-DE" sz="120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391" y="3190842"/>
            <a:ext cx="4963218" cy="476316"/>
          </a:xfrm>
          <a:prstGeom prst="rect">
            <a:avLst/>
          </a:prstGeom>
        </p:spPr>
      </p:pic>
      <p:cxnSp>
        <p:nvCxnSpPr>
          <p:cNvPr id="7" name="Gerader Verbinder 6"/>
          <p:cNvCxnSpPr/>
          <p:nvPr/>
        </p:nvCxnSpPr>
        <p:spPr>
          <a:xfrm flipH="1" flipV="1">
            <a:off x="3842238" y="2842903"/>
            <a:ext cx="61219" cy="323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3483422" y="2565904"/>
            <a:ext cx="7176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err="1" smtClean="0"/>
              <a:t>keyword</a:t>
            </a:r>
            <a:endParaRPr lang="de-DE" sz="1200" dirty="0"/>
          </a:p>
        </p:txBody>
      </p:sp>
      <p:sp>
        <p:nvSpPr>
          <p:cNvPr id="11" name="Rechteck 10"/>
          <p:cNvSpPr/>
          <p:nvPr/>
        </p:nvSpPr>
        <p:spPr>
          <a:xfrm>
            <a:off x="1401299" y="3233336"/>
            <a:ext cx="16323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Element ID:</a:t>
            </a:r>
          </a:p>
          <a:p>
            <a:r>
              <a:rPr lang="de-DE" sz="1200" dirty="0" err="1" smtClean="0"/>
              <a:t>It</a:t>
            </a:r>
            <a:r>
              <a:rPr lang="de-DE" sz="1200" dirty="0" smtClean="0"/>
              <a:t> </a:t>
            </a:r>
            <a:r>
              <a:rPr lang="de-DE" sz="1200" dirty="0" err="1" smtClean="0"/>
              <a:t>is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</a:t>
            </a:r>
            <a:r>
              <a:rPr lang="de-DE" sz="1200" dirty="0" err="1" smtClean="0"/>
              <a:t>element</a:t>
            </a:r>
            <a:r>
              <a:rPr lang="de-DE" sz="1200" dirty="0" smtClean="0"/>
              <a:t> 40741</a:t>
            </a:r>
            <a:endParaRPr lang="de-DE" sz="1200" dirty="0"/>
          </a:p>
        </p:txBody>
      </p:sp>
      <p:cxnSp>
        <p:nvCxnSpPr>
          <p:cNvPr id="12" name="Gerader Verbinder 11"/>
          <p:cNvCxnSpPr/>
          <p:nvPr/>
        </p:nvCxnSpPr>
        <p:spPr>
          <a:xfrm flipV="1">
            <a:off x="3174023" y="3429000"/>
            <a:ext cx="656245" cy="70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/>
          <p:nvPr/>
        </p:nvCxnSpPr>
        <p:spPr>
          <a:xfrm flipV="1">
            <a:off x="4874966" y="2424254"/>
            <a:ext cx="277728" cy="949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/>
          <p:cNvSpPr/>
          <p:nvPr/>
        </p:nvSpPr>
        <p:spPr>
          <a:xfrm>
            <a:off x="4453508" y="1869406"/>
            <a:ext cx="22272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Part ID:</a:t>
            </a:r>
            <a:br>
              <a:rPr lang="de-DE" sz="1200" dirty="0" smtClean="0"/>
            </a:br>
            <a:r>
              <a:rPr lang="de-DE" sz="1200" dirty="0" smtClean="0"/>
              <a:t>Element 40741 </a:t>
            </a:r>
            <a:r>
              <a:rPr lang="de-DE" sz="1200" dirty="0" err="1" smtClean="0"/>
              <a:t>belongs</a:t>
            </a:r>
            <a:r>
              <a:rPr lang="de-DE" sz="1200" dirty="0" smtClean="0"/>
              <a:t> </a:t>
            </a:r>
            <a:r>
              <a:rPr lang="de-DE" sz="1200" dirty="0" err="1" smtClean="0"/>
              <a:t>to</a:t>
            </a:r>
            <a:r>
              <a:rPr lang="de-DE" sz="1200" dirty="0" smtClean="0"/>
              <a:t> </a:t>
            </a:r>
            <a:r>
              <a:rPr lang="de-DE" sz="1200" dirty="0" err="1" smtClean="0"/>
              <a:t>part</a:t>
            </a:r>
            <a:r>
              <a:rPr lang="de-DE" sz="1200" dirty="0" smtClean="0"/>
              <a:t> 2</a:t>
            </a:r>
            <a:endParaRPr lang="de-DE" sz="1200" dirty="0"/>
          </a:p>
        </p:txBody>
      </p:sp>
      <p:cxnSp>
        <p:nvCxnSpPr>
          <p:cNvPr id="21" name="Gerader Verbinder 20"/>
          <p:cNvCxnSpPr/>
          <p:nvPr/>
        </p:nvCxnSpPr>
        <p:spPr>
          <a:xfrm flipV="1">
            <a:off x="5487546" y="2997133"/>
            <a:ext cx="781369" cy="369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/>
          <p:nvPr/>
        </p:nvCxnSpPr>
        <p:spPr>
          <a:xfrm flipH="1" flipV="1">
            <a:off x="6972839" y="2993479"/>
            <a:ext cx="193531" cy="358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hteck 28"/>
          <p:cNvSpPr/>
          <p:nvPr/>
        </p:nvSpPr>
        <p:spPr>
          <a:xfrm>
            <a:off x="5826198" y="2542775"/>
            <a:ext cx="43095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Connectivity:</a:t>
            </a:r>
          </a:p>
          <a:p>
            <a:r>
              <a:rPr lang="de-DE" sz="1200" dirty="0" smtClean="0"/>
              <a:t>Element 40741 </a:t>
            </a:r>
            <a:r>
              <a:rPr lang="de-DE" sz="1200" dirty="0" err="1" smtClean="0"/>
              <a:t>consists</a:t>
            </a:r>
            <a:r>
              <a:rPr lang="de-DE" sz="1200" dirty="0" smtClean="0"/>
              <a:t> </a:t>
            </a:r>
            <a:r>
              <a:rPr lang="de-DE" sz="1200" dirty="0" err="1" smtClean="0"/>
              <a:t>of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</a:t>
            </a:r>
            <a:r>
              <a:rPr lang="de-DE" sz="1200" dirty="0" err="1" smtClean="0"/>
              <a:t>nodes</a:t>
            </a:r>
            <a:r>
              <a:rPr lang="de-DE" sz="1200" dirty="0" smtClean="0"/>
              <a:t> 43971, 43972, 43902, 43901</a:t>
            </a:r>
            <a:endParaRPr lang="de-DE" sz="1200" dirty="0"/>
          </a:p>
        </p:txBody>
      </p:sp>
      <p:cxnSp>
        <p:nvCxnSpPr>
          <p:cNvPr id="31" name="Gerader Verbinder 30"/>
          <p:cNvCxnSpPr/>
          <p:nvPr/>
        </p:nvCxnSpPr>
        <p:spPr>
          <a:xfrm flipV="1">
            <a:off x="5985918" y="2993479"/>
            <a:ext cx="488549" cy="338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/>
          <p:cNvCxnSpPr/>
          <p:nvPr/>
        </p:nvCxnSpPr>
        <p:spPr>
          <a:xfrm flipH="1" flipV="1">
            <a:off x="6634187" y="3029305"/>
            <a:ext cx="53357" cy="3304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/>
          <p:cNvCxnSpPr/>
          <p:nvPr/>
        </p:nvCxnSpPr>
        <p:spPr>
          <a:xfrm flipH="1" flipV="1">
            <a:off x="4453508" y="3692024"/>
            <a:ext cx="180038" cy="519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hteck 43"/>
          <p:cNvSpPr/>
          <p:nvPr/>
        </p:nvSpPr>
        <p:spPr>
          <a:xfrm>
            <a:off x="4027579" y="4233490"/>
            <a:ext cx="48937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Shell </a:t>
            </a:r>
            <a:r>
              <a:rPr lang="de-DE" sz="1200" dirty="0" err="1" smtClean="0"/>
              <a:t>thickness</a:t>
            </a:r>
            <a:r>
              <a:rPr lang="de-DE" sz="1200" dirty="0" smtClean="0"/>
              <a:t> </a:t>
            </a:r>
            <a:r>
              <a:rPr lang="de-DE" sz="1200" dirty="0" err="1" smtClean="0"/>
              <a:t>values</a:t>
            </a:r>
            <a:r>
              <a:rPr lang="de-DE" sz="1200" dirty="0" smtClean="0"/>
              <a:t>:</a:t>
            </a:r>
          </a:p>
          <a:p>
            <a:r>
              <a:rPr lang="de-DE" sz="1200" dirty="0" err="1" smtClean="0"/>
              <a:t>Current</a:t>
            </a:r>
            <a:r>
              <a:rPr lang="de-DE" sz="1200" dirty="0" smtClean="0"/>
              <a:t> </a:t>
            </a:r>
            <a:r>
              <a:rPr lang="de-DE" sz="1200" dirty="0" err="1" smtClean="0"/>
              <a:t>shell</a:t>
            </a:r>
            <a:r>
              <a:rPr lang="de-DE" sz="1200" dirty="0" smtClean="0"/>
              <a:t> </a:t>
            </a:r>
            <a:r>
              <a:rPr lang="de-DE" sz="1200" dirty="0" err="1" smtClean="0"/>
              <a:t>thickness</a:t>
            </a:r>
            <a:r>
              <a:rPr lang="de-DE" sz="1200" dirty="0" smtClean="0"/>
              <a:t> </a:t>
            </a:r>
            <a:r>
              <a:rPr lang="de-DE" sz="1200" dirty="0" err="1" smtClean="0"/>
              <a:t>of</a:t>
            </a:r>
            <a:r>
              <a:rPr lang="de-DE" sz="1200" dirty="0" smtClean="0"/>
              <a:t>/at </a:t>
            </a:r>
            <a:r>
              <a:rPr lang="de-DE" sz="1200" dirty="0" err="1" smtClean="0"/>
              <a:t>nodes</a:t>
            </a:r>
            <a:r>
              <a:rPr lang="de-DE" sz="1200" dirty="0" smtClean="0"/>
              <a:t> </a:t>
            </a:r>
            <a:r>
              <a:rPr lang="de-DE" sz="1200" dirty="0" smtClean="0"/>
              <a:t>43971, 43972, 43902, 43901 (</a:t>
            </a:r>
            <a:r>
              <a:rPr lang="de-DE" sz="1200" dirty="0" err="1" smtClean="0"/>
              <a:t>probably</a:t>
            </a:r>
            <a:r>
              <a:rPr lang="de-DE" sz="1200" dirty="0" smtClean="0"/>
              <a:t>)</a:t>
            </a:r>
          </a:p>
        </p:txBody>
      </p:sp>
      <p:cxnSp>
        <p:nvCxnSpPr>
          <p:cNvPr id="46" name="Gerader Verbinder 45"/>
          <p:cNvCxnSpPr/>
          <p:nvPr/>
        </p:nvCxnSpPr>
        <p:spPr>
          <a:xfrm flipV="1">
            <a:off x="5301762" y="3689134"/>
            <a:ext cx="185784" cy="544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/>
          <p:cNvCxnSpPr/>
          <p:nvPr/>
        </p:nvCxnSpPr>
        <p:spPr>
          <a:xfrm flipV="1">
            <a:off x="5567114" y="3705720"/>
            <a:ext cx="1316590" cy="527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/>
          <p:cNvCxnSpPr/>
          <p:nvPr/>
        </p:nvCxnSpPr>
        <p:spPr>
          <a:xfrm flipV="1">
            <a:off x="6761729" y="3694733"/>
            <a:ext cx="1434560" cy="648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hteck 52"/>
          <p:cNvSpPr/>
          <p:nvPr/>
        </p:nvSpPr>
        <p:spPr>
          <a:xfrm>
            <a:off x="3417027" y="4799822"/>
            <a:ext cx="61148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err="1" smtClean="0"/>
              <a:t>Here</a:t>
            </a:r>
            <a:r>
              <a:rPr lang="de-DE" sz="1200" dirty="0" smtClean="0"/>
              <a:t> </a:t>
            </a:r>
            <a:r>
              <a:rPr lang="de-DE" sz="1200" dirty="0" err="1" smtClean="0"/>
              <a:t>right</a:t>
            </a:r>
            <a:r>
              <a:rPr lang="de-DE" sz="1200" dirty="0" smtClean="0"/>
              <a:t> </a:t>
            </a:r>
            <a:r>
              <a:rPr lang="de-DE" sz="1200" dirty="0" err="1" smtClean="0"/>
              <a:t>now</a:t>
            </a:r>
            <a:r>
              <a:rPr lang="de-DE" sz="1200" dirty="0" smtClean="0"/>
              <a:t> </a:t>
            </a:r>
            <a:r>
              <a:rPr lang="de-DE" sz="1200" dirty="0" err="1" smtClean="0"/>
              <a:t>they</a:t>
            </a:r>
            <a:r>
              <a:rPr lang="de-DE" sz="1200" dirty="0" smtClean="0"/>
              <a:t> </a:t>
            </a:r>
            <a:r>
              <a:rPr lang="de-DE" sz="1200" dirty="0" err="1" smtClean="0"/>
              <a:t>are</a:t>
            </a:r>
            <a:r>
              <a:rPr lang="de-DE" sz="1200" dirty="0" smtClean="0"/>
              <a:t> all 1.00 </a:t>
            </a:r>
            <a:r>
              <a:rPr lang="de-DE" sz="1200" dirty="0" err="1" smtClean="0"/>
              <a:t>because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</a:t>
            </a:r>
            <a:r>
              <a:rPr lang="de-DE" sz="1200" dirty="0" err="1" smtClean="0"/>
              <a:t>element</a:t>
            </a:r>
            <a:r>
              <a:rPr lang="de-DE" sz="1200" dirty="0" smtClean="0"/>
              <a:t> 40741 </a:t>
            </a:r>
            <a:r>
              <a:rPr lang="de-DE" sz="1200" dirty="0" err="1" smtClean="0"/>
              <a:t>is</a:t>
            </a:r>
            <a:r>
              <a:rPr lang="de-DE" sz="1200" dirty="0" smtClean="0"/>
              <a:t> </a:t>
            </a:r>
            <a:r>
              <a:rPr lang="de-DE" sz="1200" dirty="0" err="1" smtClean="0"/>
              <a:t>contrained</a:t>
            </a:r>
            <a:r>
              <a:rPr lang="de-DE" sz="1200" dirty="0" smtClean="0"/>
              <a:t> </a:t>
            </a:r>
            <a:r>
              <a:rPr lang="de-DE" sz="1200" dirty="0" err="1" smtClean="0"/>
              <a:t>and</a:t>
            </a:r>
            <a:r>
              <a:rPr lang="de-DE" sz="1200" dirty="0" smtClean="0"/>
              <a:t> </a:t>
            </a:r>
            <a:r>
              <a:rPr lang="de-DE" sz="1200" dirty="0" err="1" smtClean="0"/>
              <a:t>does</a:t>
            </a:r>
            <a:r>
              <a:rPr lang="de-DE" sz="1200" dirty="0" smtClean="0"/>
              <a:t> not </a:t>
            </a:r>
            <a:r>
              <a:rPr lang="de-DE" sz="1200" dirty="0" err="1" smtClean="0"/>
              <a:t>deform</a:t>
            </a:r>
            <a:endParaRPr lang="de-DE" sz="1200" dirty="0" smtClean="0"/>
          </a:p>
        </p:txBody>
      </p:sp>
    </p:spTree>
    <p:extLst>
      <p:ext uri="{BB962C8B-B14F-4D97-AF65-F5344CB8AC3E}">
        <p14:creationId xmlns:p14="http://schemas.microsoft.com/office/powerpoint/2010/main" val="271871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23" y="3114631"/>
            <a:ext cx="4324954" cy="628738"/>
          </a:xfrm>
          <a:prstGeom prst="rect">
            <a:avLst/>
          </a:prstGeom>
        </p:spPr>
      </p:pic>
      <p:sp>
        <p:nvSpPr>
          <p:cNvPr id="2" name="Rechteck 1"/>
          <p:cNvSpPr/>
          <p:nvPr/>
        </p:nvSpPr>
        <p:spPr>
          <a:xfrm>
            <a:off x="4311505" y="615434"/>
            <a:ext cx="35689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Explanation </a:t>
            </a:r>
            <a:r>
              <a:rPr lang="de-DE" sz="1200" dirty="0" err="1" smtClean="0"/>
              <a:t>of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</a:t>
            </a:r>
            <a:r>
              <a:rPr lang="de-DE" sz="1200" dirty="0" err="1" smtClean="0"/>
              <a:t>input</a:t>
            </a:r>
            <a:r>
              <a:rPr lang="de-DE" sz="1200" dirty="0" smtClean="0"/>
              <a:t> </a:t>
            </a:r>
            <a:r>
              <a:rPr lang="de-DE" sz="1200" dirty="0" err="1" smtClean="0"/>
              <a:t>file</a:t>
            </a:r>
            <a:r>
              <a:rPr lang="de-DE" sz="1200" dirty="0" smtClean="0"/>
              <a:t> </a:t>
            </a:r>
            <a:r>
              <a:rPr lang="de-DE" sz="1200" dirty="0" err="1" smtClean="0"/>
              <a:t>for</a:t>
            </a:r>
            <a:r>
              <a:rPr lang="de-DE" sz="1200" dirty="0" smtClean="0"/>
              <a:t> springback </a:t>
            </a:r>
            <a:r>
              <a:rPr lang="de-DE" sz="1200" dirty="0" err="1" smtClean="0"/>
              <a:t>simulation</a:t>
            </a:r>
            <a:r>
              <a:rPr lang="de-DE" sz="1200" dirty="0" smtClean="0"/>
              <a:t>:</a:t>
            </a:r>
            <a:endParaRPr lang="de-DE" sz="1200" dirty="0"/>
          </a:p>
        </p:txBody>
      </p:sp>
      <p:sp>
        <p:nvSpPr>
          <p:cNvPr id="4" name="Rechteck 3"/>
          <p:cNvSpPr/>
          <p:nvPr/>
        </p:nvSpPr>
        <p:spPr>
          <a:xfrm>
            <a:off x="603082" y="1579972"/>
            <a:ext cx="25269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2. Input </a:t>
            </a:r>
            <a:r>
              <a:rPr lang="de-DE" sz="1200" dirty="0" err="1" smtClean="0"/>
              <a:t>keyword</a:t>
            </a:r>
            <a:r>
              <a:rPr lang="de-DE" sz="1200" dirty="0" smtClean="0"/>
              <a:t> „</a:t>
            </a:r>
            <a:r>
              <a:rPr lang="de-DE" sz="1200" dirty="0" err="1" smtClean="0"/>
              <a:t>node</a:t>
            </a:r>
            <a:r>
              <a:rPr lang="de-DE" sz="1200" dirty="0" smtClean="0"/>
              <a:t> </a:t>
            </a:r>
            <a:r>
              <a:rPr lang="de-DE" sz="1200" dirty="0" err="1" smtClean="0"/>
              <a:t>coordinates</a:t>
            </a:r>
            <a:r>
              <a:rPr lang="de-DE" sz="1200" dirty="0" smtClean="0"/>
              <a:t>“:</a:t>
            </a:r>
          </a:p>
          <a:p>
            <a:endParaRPr lang="de-DE" sz="1200" dirty="0"/>
          </a:p>
        </p:txBody>
      </p:sp>
      <p:cxnSp>
        <p:nvCxnSpPr>
          <p:cNvPr id="7" name="Gerader Verbinder 6"/>
          <p:cNvCxnSpPr/>
          <p:nvPr/>
        </p:nvCxnSpPr>
        <p:spPr>
          <a:xfrm flipH="1" flipV="1">
            <a:off x="4045429" y="2784984"/>
            <a:ext cx="61219" cy="323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3686613" y="2507985"/>
            <a:ext cx="7176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err="1" smtClean="0"/>
              <a:t>keyword</a:t>
            </a:r>
            <a:endParaRPr lang="de-DE" sz="1200" dirty="0"/>
          </a:p>
        </p:txBody>
      </p:sp>
      <p:sp>
        <p:nvSpPr>
          <p:cNvPr id="11" name="Rechteck 10"/>
          <p:cNvSpPr/>
          <p:nvPr/>
        </p:nvSpPr>
        <p:spPr>
          <a:xfrm>
            <a:off x="2380216" y="3385758"/>
            <a:ext cx="7938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err="1" smtClean="0"/>
              <a:t>Node</a:t>
            </a:r>
            <a:r>
              <a:rPr lang="de-DE" sz="1200" dirty="0" smtClean="0"/>
              <a:t> IDs:</a:t>
            </a:r>
          </a:p>
        </p:txBody>
      </p:sp>
      <p:cxnSp>
        <p:nvCxnSpPr>
          <p:cNvPr id="12" name="Gerader Verbinder 11"/>
          <p:cNvCxnSpPr/>
          <p:nvPr/>
        </p:nvCxnSpPr>
        <p:spPr>
          <a:xfrm flipV="1">
            <a:off x="3174023" y="3429000"/>
            <a:ext cx="656245" cy="70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/>
          <p:cNvCxnSpPr/>
          <p:nvPr/>
        </p:nvCxnSpPr>
        <p:spPr>
          <a:xfrm flipV="1">
            <a:off x="5469794" y="2909425"/>
            <a:ext cx="781369" cy="369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/>
          <p:nvPr/>
        </p:nvCxnSpPr>
        <p:spPr>
          <a:xfrm flipH="1" flipV="1">
            <a:off x="7158054" y="3004440"/>
            <a:ext cx="187511" cy="268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hteck 28"/>
          <p:cNvSpPr/>
          <p:nvPr/>
        </p:nvSpPr>
        <p:spPr>
          <a:xfrm>
            <a:off x="5860478" y="2585655"/>
            <a:ext cx="1324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err="1" smtClean="0"/>
              <a:t>Nodal</a:t>
            </a:r>
            <a:r>
              <a:rPr lang="de-DE" sz="1200" dirty="0" smtClean="0"/>
              <a:t> </a:t>
            </a:r>
            <a:r>
              <a:rPr lang="de-DE" sz="1200" dirty="0" err="1" smtClean="0"/>
              <a:t>coordinates</a:t>
            </a:r>
            <a:endParaRPr lang="de-DE" sz="1200" dirty="0" smtClean="0"/>
          </a:p>
        </p:txBody>
      </p:sp>
      <p:cxnSp>
        <p:nvCxnSpPr>
          <p:cNvPr id="33" name="Gerader Verbinder 32"/>
          <p:cNvCxnSpPr/>
          <p:nvPr/>
        </p:nvCxnSpPr>
        <p:spPr>
          <a:xfrm flipH="1" flipV="1">
            <a:off x="6572825" y="2942823"/>
            <a:ext cx="53357" cy="3304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62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k 26"/>
          <p:cNvPicPr>
            <a:picLocks noChangeAspect="1"/>
          </p:cNvPicPr>
          <p:nvPr/>
        </p:nvPicPr>
        <p:blipFill rotWithShape="1">
          <a:blip r:embed="rId2"/>
          <a:srcRect b="19240"/>
          <a:stretch/>
        </p:blipFill>
        <p:spPr>
          <a:xfrm>
            <a:off x="2936963" y="2369483"/>
            <a:ext cx="6211167" cy="1877202"/>
          </a:xfrm>
          <a:prstGeom prst="rect">
            <a:avLst/>
          </a:prstGeom>
        </p:spPr>
      </p:pic>
      <p:sp>
        <p:nvSpPr>
          <p:cNvPr id="2" name="Rechteck 1"/>
          <p:cNvSpPr/>
          <p:nvPr/>
        </p:nvSpPr>
        <p:spPr>
          <a:xfrm>
            <a:off x="4311505" y="615434"/>
            <a:ext cx="35689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Explanation </a:t>
            </a:r>
            <a:r>
              <a:rPr lang="de-DE" sz="1200" dirty="0" err="1" smtClean="0"/>
              <a:t>of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</a:t>
            </a:r>
            <a:r>
              <a:rPr lang="de-DE" sz="1200" dirty="0" err="1" smtClean="0"/>
              <a:t>input</a:t>
            </a:r>
            <a:r>
              <a:rPr lang="de-DE" sz="1200" dirty="0" smtClean="0"/>
              <a:t> </a:t>
            </a:r>
            <a:r>
              <a:rPr lang="de-DE" sz="1200" dirty="0" err="1" smtClean="0"/>
              <a:t>file</a:t>
            </a:r>
            <a:r>
              <a:rPr lang="de-DE" sz="1200" dirty="0" smtClean="0"/>
              <a:t> </a:t>
            </a:r>
            <a:r>
              <a:rPr lang="de-DE" sz="1200" dirty="0" err="1" smtClean="0"/>
              <a:t>for</a:t>
            </a:r>
            <a:r>
              <a:rPr lang="de-DE" sz="1200" dirty="0" smtClean="0"/>
              <a:t> springback </a:t>
            </a:r>
            <a:r>
              <a:rPr lang="de-DE" sz="1200" dirty="0" err="1" smtClean="0"/>
              <a:t>simulation</a:t>
            </a:r>
            <a:r>
              <a:rPr lang="de-DE" sz="1200" dirty="0" smtClean="0"/>
              <a:t>:</a:t>
            </a:r>
            <a:endParaRPr lang="de-DE" sz="1200" dirty="0"/>
          </a:p>
        </p:txBody>
      </p:sp>
      <p:sp>
        <p:nvSpPr>
          <p:cNvPr id="4" name="Rechteck 3"/>
          <p:cNvSpPr/>
          <p:nvPr/>
        </p:nvSpPr>
        <p:spPr>
          <a:xfrm>
            <a:off x="603082" y="1579972"/>
            <a:ext cx="21801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3. Input </a:t>
            </a:r>
            <a:r>
              <a:rPr lang="de-DE" sz="1200" dirty="0" err="1" smtClean="0"/>
              <a:t>keyword</a:t>
            </a:r>
            <a:r>
              <a:rPr lang="de-DE" sz="1200" dirty="0" smtClean="0"/>
              <a:t> „initial stress“:</a:t>
            </a:r>
          </a:p>
          <a:p>
            <a:endParaRPr lang="de-DE" sz="1200" dirty="0"/>
          </a:p>
        </p:txBody>
      </p:sp>
      <p:cxnSp>
        <p:nvCxnSpPr>
          <p:cNvPr id="7" name="Gerader Verbinder 6"/>
          <p:cNvCxnSpPr/>
          <p:nvPr/>
        </p:nvCxnSpPr>
        <p:spPr>
          <a:xfrm flipH="1" flipV="1">
            <a:off x="3295779" y="2058469"/>
            <a:ext cx="61219" cy="323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2936963" y="1781470"/>
            <a:ext cx="7176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err="1" smtClean="0"/>
              <a:t>keyword</a:t>
            </a:r>
            <a:endParaRPr lang="de-DE" sz="1200" dirty="0"/>
          </a:p>
        </p:txBody>
      </p:sp>
      <p:sp>
        <p:nvSpPr>
          <p:cNvPr id="11" name="Rechteck 10"/>
          <p:cNvSpPr/>
          <p:nvPr/>
        </p:nvSpPr>
        <p:spPr>
          <a:xfrm>
            <a:off x="1763798" y="2421745"/>
            <a:ext cx="9126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Element ID:</a:t>
            </a:r>
          </a:p>
        </p:txBody>
      </p:sp>
      <p:cxnSp>
        <p:nvCxnSpPr>
          <p:cNvPr id="12" name="Gerader Verbinder 11"/>
          <p:cNvCxnSpPr/>
          <p:nvPr/>
        </p:nvCxnSpPr>
        <p:spPr>
          <a:xfrm>
            <a:off x="2676420" y="2698744"/>
            <a:ext cx="660437" cy="71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/>
          <p:cNvCxnSpPr/>
          <p:nvPr/>
        </p:nvCxnSpPr>
        <p:spPr>
          <a:xfrm flipV="1">
            <a:off x="4559612" y="2180666"/>
            <a:ext cx="272287" cy="518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/>
          <p:nvPr/>
        </p:nvCxnSpPr>
        <p:spPr>
          <a:xfrm flipV="1">
            <a:off x="6092430" y="2351311"/>
            <a:ext cx="1908786" cy="3479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hteck 28"/>
          <p:cNvSpPr/>
          <p:nvPr/>
        </p:nvSpPr>
        <p:spPr>
          <a:xfrm>
            <a:off x="4472375" y="1558559"/>
            <a:ext cx="20252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Number of in plane integration points being output.</a:t>
            </a:r>
            <a:endParaRPr lang="de-DE" sz="1200" dirty="0" smtClean="0"/>
          </a:p>
        </p:txBody>
      </p:sp>
      <p:cxnSp>
        <p:nvCxnSpPr>
          <p:cNvPr id="33" name="Gerader Verbinder 32"/>
          <p:cNvCxnSpPr/>
          <p:nvPr/>
        </p:nvCxnSpPr>
        <p:spPr>
          <a:xfrm flipV="1">
            <a:off x="5335203" y="2076465"/>
            <a:ext cx="1514455" cy="6227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/>
          <p:cNvSpPr/>
          <p:nvPr/>
        </p:nvSpPr>
        <p:spPr>
          <a:xfrm>
            <a:off x="6756349" y="1412138"/>
            <a:ext cx="14140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 err="1" smtClean="0"/>
              <a:t>Number</a:t>
            </a:r>
            <a:r>
              <a:rPr lang="de-DE" sz="1200" dirty="0" smtClean="0"/>
              <a:t> </a:t>
            </a:r>
            <a:r>
              <a:rPr lang="de-DE" sz="1200" dirty="0" err="1" smtClean="0"/>
              <a:t>of</a:t>
            </a:r>
            <a:r>
              <a:rPr lang="de-DE" sz="1200" dirty="0" smtClean="0"/>
              <a:t> </a:t>
            </a:r>
            <a:r>
              <a:rPr lang="de-DE" sz="1200" dirty="0" err="1" smtClean="0"/>
              <a:t>through</a:t>
            </a:r>
            <a:r>
              <a:rPr lang="de-DE" sz="1200" dirty="0" smtClean="0"/>
              <a:t> </a:t>
            </a:r>
            <a:r>
              <a:rPr lang="de-DE" sz="1200" dirty="0" err="1" smtClean="0"/>
              <a:t>thickness</a:t>
            </a:r>
            <a:r>
              <a:rPr lang="de-DE" sz="1200" dirty="0" smtClean="0"/>
              <a:t> </a:t>
            </a:r>
            <a:r>
              <a:rPr lang="de-DE" sz="1200" dirty="0" err="1" smtClean="0"/>
              <a:t>integration</a:t>
            </a:r>
            <a:r>
              <a:rPr lang="de-DE" sz="1200" dirty="0" smtClean="0"/>
              <a:t> </a:t>
            </a:r>
            <a:r>
              <a:rPr lang="de-DE" sz="1200" dirty="0" err="1" smtClean="0"/>
              <a:t>points</a:t>
            </a:r>
            <a:r>
              <a:rPr lang="de-DE" sz="1200" dirty="0" smtClean="0"/>
              <a:t>.</a:t>
            </a:r>
            <a:endParaRPr lang="de-DE" sz="1200" dirty="0"/>
          </a:p>
        </p:txBody>
      </p:sp>
      <p:sp>
        <p:nvSpPr>
          <p:cNvPr id="17" name="Rechteck 16"/>
          <p:cNvSpPr/>
          <p:nvPr/>
        </p:nvSpPr>
        <p:spPr>
          <a:xfrm>
            <a:off x="8052272" y="1765168"/>
            <a:ext cx="11732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 err="1" smtClean="0"/>
              <a:t>Number</a:t>
            </a:r>
            <a:r>
              <a:rPr lang="de-DE" sz="1200" dirty="0" smtClean="0"/>
              <a:t> </a:t>
            </a:r>
            <a:r>
              <a:rPr lang="de-DE" sz="1200" dirty="0" err="1" smtClean="0"/>
              <a:t>of</a:t>
            </a:r>
            <a:r>
              <a:rPr lang="de-DE" sz="1200" dirty="0" smtClean="0"/>
              <a:t> additional </a:t>
            </a:r>
            <a:r>
              <a:rPr lang="de-DE" sz="1200" dirty="0" err="1" smtClean="0"/>
              <a:t>history</a:t>
            </a:r>
            <a:r>
              <a:rPr lang="de-DE" sz="1200" dirty="0" smtClean="0"/>
              <a:t> variables.</a:t>
            </a:r>
            <a:endParaRPr lang="de-DE" sz="1200" dirty="0"/>
          </a:p>
        </p:txBody>
      </p:sp>
      <p:sp>
        <p:nvSpPr>
          <p:cNvPr id="24" name="Rechteck 23"/>
          <p:cNvSpPr/>
          <p:nvPr/>
        </p:nvSpPr>
        <p:spPr>
          <a:xfrm>
            <a:off x="6143749" y="4615277"/>
            <a:ext cx="10077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Stress </a:t>
            </a:r>
            <a:r>
              <a:rPr lang="de-DE" sz="1200" dirty="0" err="1" smtClean="0"/>
              <a:t>results</a:t>
            </a:r>
            <a:endParaRPr lang="de-DE" sz="1200" dirty="0" smtClean="0"/>
          </a:p>
        </p:txBody>
      </p:sp>
      <p:sp>
        <p:nvSpPr>
          <p:cNvPr id="28" name="Geschweifte Klammer links 27"/>
          <p:cNvSpPr/>
          <p:nvPr/>
        </p:nvSpPr>
        <p:spPr>
          <a:xfrm rot="10800000">
            <a:off x="9107052" y="2883271"/>
            <a:ext cx="438988" cy="12968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/>
          <p:cNvSpPr/>
          <p:nvPr/>
        </p:nvSpPr>
        <p:spPr>
          <a:xfrm>
            <a:off x="9514986" y="3393195"/>
            <a:ext cx="14051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9 </a:t>
            </a:r>
            <a:r>
              <a:rPr lang="de-DE" sz="1200" dirty="0" err="1" smtClean="0"/>
              <a:t>integration</a:t>
            </a:r>
            <a:r>
              <a:rPr lang="de-DE" sz="1200" dirty="0" smtClean="0"/>
              <a:t> </a:t>
            </a:r>
            <a:r>
              <a:rPr lang="de-DE" sz="1200" dirty="0" err="1" smtClean="0"/>
              <a:t>points</a:t>
            </a:r>
            <a:endParaRPr lang="de-DE" sz="1200" dirty="0" smtClean="0"/>
          </a:p>
        </p:txBody>
      </p:sp>
      <p:sp>
        <p:nvSpPr>
          <p:cNvPr id="32" name="Rechteck 31"/>
          <p:cNvSpPr/>
          <p:nvPr/>
        </p:nvSpPr>
        <p:spPr>
          <a:xfrm>
            <a:off x="456630" y="3486628"/>
            <a:ext cx="18326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 smtClean="0"/>
              <a:t>Integration </a:t>
            </a:r>
            <a:r>
              <a:rPr lang="de-DE" sz="1200" dirty="0" err="1" smtClean="0"/>
              <a:t>point</a:t>
            </a:r>
            <a:r>
              <a:rPr lang="de-DE" sz="1200" dirty="0"/>
              <a:t> </a:t>
            </a:r>
            <a:r>
              <a:rPr lang="de-DE" sz="1200" dirty="0" smtClean="0"/>
              <a:t>IDs?</a:t>
            </a:r>
          </a:p>
          <a:p>
            <a:r>
              <a:rPr lang="de-DE" sz="1200" dirty="0" smtClean="0"/>
              <a:t>Integration </a:t>
            </a:r>
            <a:r>
              <a:rPr lang="de-DE" sz="1200" dirty="0" err="1" smtClean="0"/>
              <a:t>point</a:t>
            </a:r>
            <a:r>
              <a:rPr lang="de-DE" sz="1200" dirty="0" smtClean="0"/>
              <a:t> </a:t>
            </a:r>
            <a:r>
              <a:rPr lang="de-DE" sz="1200" dirty="0" err="1" smtClean="0"/>
              <a:t>position</a:t>
            </a:r>
            <a:r>
              <a:rPr lang="de-DE" sz="1200" dirty="0" smtClean="0"/>
              <a:t> in </a:t>
            </a:r>
            <a:r>
              <a:rPr lang="de-DE" sz="1200" dirty="0" err="1" smtClean="0"/>
              <a:t>shell</a:t>
            </a:r>
            <a:r>
              <a:rPr lang="de-DE" sz="1200" dirty="0" smtClean="0"/>
              <a:t> </a:t>
            </a:r>
            <a:r>
              <a:rPr lang="de-DE" sz="1200" dirty="0" err="1" smtClean="0"/>
              <a:t>thicknes</a:t>
            </a:r>
            <a:r>
              <a:rPr lang="de-DE" sz="1200" dirty="0" smtClean="0"/>
              <a:t> </a:t>
            </a:r>
            <a:r>
              <a:rPr lang="de-DE" sz="1200" dirty="0" err="1" smtClean="0"/>
              <a:t>direction</a:t>
            </a:r>
            <a:r>
              <a:rPr lang="de-DE" sz="1200" dirty="0" smtClean="0"/>
              <a:t>?</a:t>
            </a:r>
          </a:p>
        </p:txBody>
      </p:sp>
      <p:cxnSp>
        <p:nvCxnSpPr>
          <p:cNvPr id="36" name="Gerader Verbinder 35"/>
          <p:cNvCxnSpPr/>
          <p:nvPr/>
        </p:nvCxnSpPr>
        <p:spPr>
          <a:xfrm flipV="1">
            <a:off x="1985222" y="2958801"/>
            <a:ext cx="951741" cy="559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eschweifte Klammer links 37"/>
          <p:cNvSpPr/>
          <p:nvPr/>
        </p:nvSpPr>
        <p:spPr>
          <a:xfrm rot="16200000">
            <a:off x="6428111" y="1936336"/>
            <a:ext cx="438988" cy="49188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0" name="Gerader Verbinder 39"/>
          <p:cNvCxnSpPr>
            <a:endCxn id="27" idx="1"/>
          </p:cNvCxnSpPr>
          <p:nvPr/>
        </p:nvCxnSpPr>
        <p:spPr>
          <a:xfrm flipV="1">
            <a:off x="2101362" y="3308084"/>
            <a:ext cx="835601" cy="2668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/>
          <p:cNvCxnSpPr/>
          <p:nvPr/>
        </p:nvCxnSpPr>
        <p:spPr>
          <a:xfrm>
            <a:off x="2101362" y="3650433"/>
            <a:ext cx="951741" cy="700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/>
          <p:cNvCxnSpPr/>
          <p:nvPr/>
        </p:nvCxnSpPr>
        <p:spPr>
          <a:xfrm>
            <a:off x="2253762" y="3802833"/>
            <a:ext cx="605833" cy="177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193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305" y="2406824"/>
            <a:ext cx="4629796" cy="1400370"/>
          </a:xfrm>
          <a:prstGeom prst="rect">
            <a:avLst/>
          </a:prstGeom>
        </p:spPr>
      </p:pic>
      <p:sp>
        <p:nvSpPr>
          <p:cNvPr id="2" name="Rechteck 1"/>
          <p:cNvSpPr/>
          <p:nvPr/>
        </p:nvSpPr>
        <p:spPr>
          <a:xfrm>
            <a:off x="4311505" y="615434"/>
            <a:ext cx="35689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Explanation </a:t>
            </a:r>
            <a:r>
              <a:rPr lang="de-DE" sz="1200" dirty="0" err="1" smtClean="0"/>
              <a:t>of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</a:t>
            </a:r>
            <a:r>
              <a:rPr lang="de-DE" sz="1200" dirty="0" err="1" smtClean="0"/>
              <a:t>input</a:t>
            </a:r>
            <a:r>
              <a:rPr lang="de-DE" sz="1200" dirty="0" smtClean="0"/>
              <a:t> </a:t>
            </a:r>
            <a:r>
              <a:rPr lang="de-DE" sz="1200" dirty="0" err="1" smtClean="0"/>
              <a:t>file</a:t>
            </a:r>
            <a:r>
              <a:rPr lang="de-DE" sz="1200" dirty="0" smtClean="0"/>
              <a:t> </a:t>
            </a:r>
            <a:r>
              <a:rPr lang="de-DE" sz="1200" dirty="0" err="1" smtClean="0"/>
              <a:t>for</a:t>
            </a:r>
            <a:r>
              <a:rPr lang="de-DE" sz="1200" dirty="0" smtClean="0"/>
              <a:t> springback </a:t>
            </a:r>
            <a:r>
              <a:rPr lang="de-DE" sz="1200" dirty="0" err="1" smtClean="0"/>
              <a:t>simulation</a:t>
            </a:r>
            <a:r>
              <a:rPr lang="de-DE" sz="1200" dirty="0" smtClean="0"/>
              <a:t>:</a:t>
            </a:r>
            <a:endParaRPr lang="de-DE" sz="1200" dirty="0"/>
          </a:p>
        </p:txBody>
      </p:sp>
      <p:sp>
        <p:nvSpPr>
          <p:cNvPr id="4" name="Rechteck 3"/>
          <p:cNvSpPr/>
          <p:nvPr/>
        </p:nvSpPr>
        <p:spPr>
          <a:xfrm>
            <a:off x="603082" y="1579972"/>
            <a:ext cx="21687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4. Input </a:t>
            </a:r>
            <a:r>
              <a:rPr lang="de-DE" sz="1200" dirty="0" err="1" smtClean="0"/>
              <a:t>keyword</a:t>
            </a:r>
            <a:r>
              <a:rPr lang="de-DE" sz="1200" dirty="0" smtClean="0"/>
              <a:t> „initial </a:t>
            </a:r>
            <a:r>
              <a:rPr lang="de-DE" sz="1200" dirty="0" err="1" smtClean="0"/>
              <a:t>strain</a:t>
            </a:r>
            <a:r>
              <a:rPr lang="de-DE" sz="1200" dirty="0" smtClean="0"/>
              <a:t>“:</a:t>
            </a:r>
          </a:p>
          <a:p>
            <a:endParaRPr lang="de-DE" sz="1200" dirty="0"/>
          </a:p>
        </p:txBody>
      </p:sp>
      <p:cxnSp>
        <p:nvCxnSpPr>
          <p:cNvPr id="7" name="Gerader Verbinder 6"/>
          <p:cNvCxnSpPr/>
          <p:nvPr/>
        </p:nvCxnSpPr>
        <p:spPr>
          <a:xfrm flipH="1" flipV="1">
            <a:off x="3295779" y="2058469"/>
            <a:ext cx="61219" cy="323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2936963" y="1781470"/>
            <a:ext cx="7176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err="1" smtClean="0"/>
              <a:t>keyword</a:t>
            </a:r>
            <a:endParaRPr lang="de-DE" sz="1200" dirty="0"/>
          </a:p>
        </p:txBody>
      </p:sp>
      <p:sp>
        <p:nvSpPr>
          <p:cNvPr id="11" name="Rechteck 10"/>
          <p:cNvSpPr/>
          <p:nvPr/>
        </p:nvSpPr>
        <p:spPr>
          <a:xfrm>
            <a:off x="1763798" y="2421745"/>
            <a:ext cx="9126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Element ID:</a:t>
            </a:r>
          </a:p>
        </p:txBody>
      </p:sp>
      <p:cxnSp>
        <p:nvCxnSpPr>
          <p:cNvPr id="12" name="Gerader Verbinder 11"/>
          <p:cNvCxnSpPr/>
          <p:nvPr/>
        </p:nvCxnSpPr>
        <p:spPr>
          <a:xfrm>
            <a:off x="2676420" y="2698744"/>
            <a:ext cx="660437" cy="71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/>
          <p:cNvCxnSpPr/>
          <p:nvPr/>
        </p:nvCxnSpPr>
        <p:spPr>
          <a:xfrm flipV="1">
            <a:off x="5959856" y="2381543"/>
            <a:ext cx="546452" cy="518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/>
          <p:cNvSpPr/>
          <p:nvPr/>
        </p:nvSpPr>
        <p:spPr>
          <a:xfrm>
            <a:off x="949222" y="3488493"/>
            <a:ext cx="2002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Next </a:t>
            </a:r>
            <a:r>
              <a:rPr lang="de-DE" sz="1200" dirty="0" err="1" smtClean="0"/>
              <a:t>element</a:t>
            </a:r>
            <a:r>
              <a:rPr lang="de-DE" sz="1200" dirty="0" smtClean="0"/>
              <a:t> ID </a:t>
            </a:r>
            <a:r>
              <a:rPr lang="de-DE" sz="1200" dirty="0" err="1" smtClean="0"/>
              <a:t>and</a:t>
            </a:r>
            <a:r>
              <a:rPr lang="de-DE" sz="1200" dirty="0" smtClean="0"/>
              <a:t> so on…</a:t>
            </a:r>
          </a:p>
        </p:txBody>
      </p:sp>
      <p:sp>
        <p:nvSpPr>
          <p:cNvPr id="22" name="Geschweifte Klammer links 21"/>
          <p:cNvSpPr/>
          <p:nvPr/>
        </p:nvSpPr>
        <p:spPr>
          <a:xfrm>
            <a:off x="2910220" y="3169793"/>
            <a:ext cx="438988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6103171" y="2068866"/>
            <a:ext cx="30938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err="1" smtClean="0"/>
              <a:t>Strain</a:t>
            </a:r>
            <a:r>
              <a:rPr lang="de-DE" sz="1200" dirty="0" smtClean="0"/>
              <a:t> </a:t>
            </a:r>
            <a:r>
              <a:rPr lang="de-DE" sz="1200" dirty="0" err="1" smtClean="0"/>
              <a:t>results</a:t>
            </a:r>
            <a:r>
              <a:rPr lang="de-DE" sz="1200" dirty="0" smtClean="0"/>
              <a:t>, but I </a:t>
            </a:r>
            <a:r>
              <a:rPr lang="de-DE" sz="1200" dirty="0" err="1" smtClean="0"/>
              <a:t>dont</a:t>
            </a:r>
            <a:r>
              <a:rPr lang="de-DE" sz="1200" dirty="0" smtClean="0"/>
              <a:t> </a:t>
            </a:r>
            <a:r>
              <a:rPr lang="de-DE" sz="1200" dirty="0" err="1" smtClean="0"/>
              <a:t>know</a:t>
            </a:r>
            <a:r>
              <a:rPr lang="de-DE" sz="1200" dirty="0" smtClean="0"/>
              <a:t> </a:t>
            </a:r>
            <a:r>
              <a:rPr lang="de-DE" sz="1200" dirty="0" err="1" smtClean="0"/>
              <a:t>why</a:t>
            </a:r>
            <a:r>
              <a:rPr lang="de-DE" sz="1200" dirty="0" smtClean="0"/>
              <a:t> </a:t>
            </a:r>
            <a:r>
              <a:rPr lang="de-DE" sz="1200" dirty="0" err="1" smtClean="0"/>
              <a:t>they</a:t>
            </a:r>
            <a:r>
              <a:rPr lang="de-DE" sz="1200" dirty="0" smtClean="0"/>
              <a:t> </a:t>
            </a:r>
            <a:r>
              <a:rPr lang="de-DE" sz="1200" dirty="0" err="1" smtClean="0"/>
              <a:t>are</a:t>
            </a:r>
            <a:r>
              <a:rPr lang="de-DE" sz="1200" dirty="0" smtClean="0"/>
              <a:t> 12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830942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4311505" y="615434"/>
            <a:ext cx="35689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Explanation </a:t>
            </a:r>
            <a:r>
              <a:rPr lang="de-DE" sz="1200" dirty="0" err="1" smtClean="0"/>
              <a:t>of</a:t>
            </a:r>
            <a:r>
              <a:rPr lang="de-DE" sz="1200" dirty="0" smtClean="0"/>
              <a:t> </a:t>
            </a:r>
            <a:r>
              <a:rPr lang="de-DE" sz="1200" dirty="0" err="1" smtClean="0"/>
              <a:t>the</a:t>
            </a:r>
            <a:r>
              <a:rPr lang="de-DE" sz="1200" dirty="0" smtClean="0"/>
              <a:t> </a:t>
            </a:r>
            <a:r>
              <a:rPr lang="de-DE" sz="1200" dirty="0" err="1" smtClean="0"/>
              <a:t>input</a:t>
            </a:r>
            <a:r>
              <a:rPr lang="de-DE" sz="1200" dirty="0" smtClean="0"/>
              <a:t> </a:t>
            </a:r>
            <a:r>
              <a:rPr lang="de-DE" sz="1200" dirty="0" err="1" smtClean="0"/>
              <a:t>file</a:t>
            </a:r>
            <a:r>
              <a:rPr lang="de-DE" sz="1200" dirty="0" smtClean="0"/>
              <a:t> </a:t>
            </a:r>
            <a:r>
              <a:rPr lang="de-DE" sz="1200" dirty="0" err="1" smtClean="0"/>
              <a:t>for</a:t>
            </a:r>
            <a:r>
              <a:rPr lang="de-DE" sz="1200" dirty="0" smtClean="0"/>
              <a:t> springback </a:t>
            </a:r>
            <a:r>
              <a:rPr lang="de-DE" sz="1200" dirty="0" err="1" smtClean="0"/>
              <a:t>simulation</a:t>
            </a:r>
            <a:r>
              <a:rPr lang="de-DE" sz="1200" dirty="0" smtClean="0"/>
              <a:t>:</a:t>
            </a:r>
            <a:endParaRPr lang="de-DE" sz="1200" dirty="0"/>
          </a:p>
        </p:txBody>
      </p:sp>
      <p:sp>
        <p:nvSpPr>
          <p:cNvPr id="4" name="Rechteck 3"/>
          <p:cNvSpPr/>
          <p:nvPr/>
        </p:nvSpPr>
        <p:spPr>
          <a:xfrm>
            <a:off x="3015762" y="2236148"/>
            <a:ext cx="8130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 smtClean="0"/>
              <a:t>End </a:t>
            </a:r>
            <a:r>
              <a:rPr lang="de-DE" sz="1200" dirty="0" err="1" smtClean="0"/>
              <a:t>of</a:t>
            </a:r>
            <a:r>
              <a:rPr lang="de-DE" sz="1200" dirty="0" smtClean="0"/>
              <a:t> </a:t>
            </a:r>
            <a:r>
              <a:rPr lang="de-DE" sz="1200" dirty="0" err="1" smtClean="0"/>
              <a:t>file</a:t>
            </a:r>
            <a:endParaRPr lang="de-DE" sz="120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943" y="3114631"/>
            <a:ext cx="5106113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978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Microsoft Office PowerPoint</Application>
  <PresentationFormat>Breitbild</PresentationFormat>
  <Paragraphs>63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Steinfels, Dennis</dc:creator>
  <cp:lastModifiedBy>Steinfels, Dennis</cp:lastModifiedBy>
  <cp:revision>8</cp:revision>
  <dcterms:created xsi:type="dcterms:W3CDTF">2025-12-17T10:40:45Z</dcterms:created>
  <dcterms:modified xsi:type="dcterms:W3CDTF">2025-12-17T11:25:12Z</dcterms:modified>
</cp:coreProperties>
</file>